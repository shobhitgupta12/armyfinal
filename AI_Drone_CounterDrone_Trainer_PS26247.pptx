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241280" y="3200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320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HACKATHON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Problem Statement ID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26247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Problem Statement Title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AI-Enabled Drone &amp; Counter-Drone Threat Simulation Trainer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6265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Theme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Robotics &amp; Drones / Defence / 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1246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PS Category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Software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Team ID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179587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Team Name –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 Vanguard_C-UAS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1463040"/>
            <a:ext cx="4023360" cy="4480560"/>
          </a:xfrm>
          <a:prstGeom prst="rect">
            <a:avLst/>
          </a:prstGeom>
          <a:solidFill>
            <a:srgbClr val="0A111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828800"/>
            <a:ext cx="3291840" cy="3291840"/>
          </a:xfrm>
          <a:prstGeom prst="ellipse">
            <a:avLst/>
          </a:prstGeom>
          <a:ln w="12700">
            <a:solidFill>
              <a:srgbClr val="05966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3920" y="2286000"/>
            <a:ext cx="2377440" cy="2377440"/>
          </a:xfrm>
          <a:prstGeom prst="ellipse">
            <a:avLst/>
          </a:prstGeom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2743200"/>
            <a:ext cx="1463040" cy="1463040"/>
          </a:xfrm>
          <a:prstGeom prst="ellipse">
            <a:avLst/>
          </a:prstGeom>
          <a:ln w="19050">
            <a:solidFill>
              <a:srgbClr val="E11D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32918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DEFENDED BASE (0,0)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12480" y="21031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TRK-101 [HOSTILE ATTACK]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424160" y="256032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TRK-102 [FRIENDLY]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66960" y="42062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TRK-103 [BIRD/DECOY]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5120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TACTICAL C-UAS SIMULATOR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60 FPS Canvas • 4-Sensor Fusion • Decision Tree Auditing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IDEA AND PROPOSED SOLUTION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1828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182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60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&amp; TRAINING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• Asymmetric Aerial Threat: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Low-cost commercial drones, FPV kamikazes, and swarms outpace traditional air-defence economics.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• Hardware Training Bottleneck: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Flying physical drone swarms and firing live kinetic/RF gear is cost-prohibitive, hazardous, and logistically restricted.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• Multi-Vector Cognitive Overload: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Differentiating hostile recon, autonomous FPVs (RF-immune), friendly UAVs, and birds causes severe decision paralysis.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• Absence of Quantified Auditing: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Conventional field drills lack second-by-second RoE decision tree auditing, replay telemetry, and adaptive remediation.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7180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IT ADDRESSES THE PROBLEM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• Zero-Hardware Client Engine: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Runs natively on standard COTS laptops at 60 FPS with zero specialized radar or GPU infrastructure.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• Multi-Sensor Physical Fidelity: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Simulates Radar RCS, EO/IR optical slewing, RF spectrum band detection (2.4/5.8 GHz/SATCOM), and Acoustic array.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• Strict RoE Decision Tree: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Automated verification enforces fratricide protection, penalizes decoy strikes, and validates weapon suitability.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• Dynamic Adaptive Personalization: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Rolling 5-session performance tracking automatically identifies operator weak points and scales difficulty (1-10).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• Comprehensive AAR &amp; Export: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Scrubbable 4Hz timeline replay with ground-truth reveal, automated military-grade PDF reporting, and JSON export.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52160" y="960120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960120"/>
            <a:ext cx="594360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PROPOSED SYSTEM ARCHITECTURE &amp; WORKFLOW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1042416" cy="1325880"/>
          </a:xfrm>
          <a:prstGeom prst="roundRect">
            <a:avLst>
              <a:gd name="adj" fmla="val 8772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444752"/>
            <a:ext cx="9692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Layer 0: Physics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&amp; Sensor Engine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(Radar/EO/RF/Mic)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22592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417320"/>
            <a:ext cx="1042416" cy="1325880"/>
          </a:xfrm>
          <a:prstGeom prst="roundRect">
            <a:avLst>
              <a:gd name="adj" fmla="val 8772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444752"/>
            <a:ext cx="9692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Procedural Gen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(Mulberry32 PRNG)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&amp; Scripted Waves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165592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75320" y="1417320"/>
            <a:ext cx="1042416" cy="1325880"/>
          </a:xfrm>
          <a:prstGeom prst="roundRect">
            <a:avLst>
              <a:gd name="adj" fmla="val 8772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1444752"/>
            <a:ext cx="9692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Tactical Scope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&amp; Countermeasure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(Jam/Soft/Kinetic)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08592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1417320"/>
            <a:ext cx="1042416" cy="1325880"/>
          </a:xfrm>
          <a:prstGeom prst="roundRect">
            <a:avLst>
              <a:gd name="adj" fmla="val 8772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54896" y="1444752"/>
            <a:ext cx="9692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Scoring Rubric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Per-Entity Decision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</a:rPr>
              <a:t>Tree Evaluation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451592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61320" y="1417320"/>
            <a:ext cx="1042416" cy="1325880"/>
          </a:xfrm>
          <a:prstGeom prst="roundRect">
            <a:avLst>
              <a:gd name="adj" fmla="val 8772"/>
            </a:avLst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97896" y="1444752"/>
            <a:ext cx="9692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F1239"/>
                </a:solidFill>
              </a:rPr>
              <a:t>AAR Replay Player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F1239"/>
                </a:solidFill>
              </a:rPr>
              <a:t>&amp; Unit Readiness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F1239"/>
                </a:solidFill>
              </a:rPr>
              <a:t>Leaderboard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52160" y="2971800"/>
            <a:ext cx="5943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971800"/>
            <a:ext cx="5943600" cy="347472"/>
          </a:xfrm>
          <a:prstGeom prst="roundRect">
            <a:avLst>
              <a:gd name="adj" fmla="val 26316"/>
            </a:avLst>
          </a:prstGeom>
          <a:solidFill>
            <a:srgbClr val="BE185D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29718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 INNOVATION &amp; UNIQUENESS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33756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85D"/>
                </a:solidFill>
              </a:rPr>
              <a:t>• Deterministic 100% Solvable Seed Generator: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Mulberry32 PRNG guarantees exact scenario reproducibility across squads with seed-sharing.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85D"/>
                </a:solidFill>
              </a:rPr>
              <a:t>• Autonomous / Fiber-Optic Drone Modeling: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Simulates RF-silent threats immune to jamming, teaching trainees when to conserve RF pulses and fire kinetic rounds.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85D"/>
                </a:solidFill>
              </a:rPr>
              <a:t>• Dual-Engine AI Instructor: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Instant deterministic tactical feedback + optional zero-latency LLM debrief API for constructive military critique.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85D"/>
                </a:solidFill>
              </a:rPr>
              <a:t>• Interactive Ground-Truth Replay: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4Hz downsampled frame scrubbing with green true-entity overlays vs operator actions for deep post-mission audit.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85D"/>
                </a:solidFill>
              </a:rPr>
              <a:t>• Zero Backend Dependency: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100% browser-native React 19 + TypeScript + HTML5 Canvas, operating entirely offline in field command posts.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516636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2303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TARGET &amp; THREAT CLASSES SIMULATED &amp; IDENTIFIED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① Hostile Attack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Kamikaze / Autonomous (32 m/s)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7744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② Hostile Recon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Loitering Quadcopter (14 m/s)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③ Hostile Swarm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Coordinated Wave (24 m/s)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④ Friendly Patrol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Intermittent/Valid IFF (22 m/s)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0100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B308"/>
                </a:solidFill>
              </a:rPr>
              <a:t>⑤ Civilian Drone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Erratic Commercial (9 m/s)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75520" y="553212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21240" y="5559552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⑥ Bird / Decoy
</a:t>
            </a:r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Low RCS &lt; 0.01 dBSM (7 m/s)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TECHNICAL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1828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182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60120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1: SCENARIO &amp; SENSOR SYNTHESIS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Procedural Scenario Generator: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Mulberry32 PRNG ensures deterministic, reproducible threat waves from integer seeds.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0665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Environmental Degradation Matrix: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Day/Night visibility, Fog (EO penalty 0.35), Rain (Radar 2800m), Urban shadow zones.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Kinematic Behavior Models: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Direct attack vector, loitering recon orbit, sinusoidal swarm wave, erratic civilian/bird flight.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Multi-Sensor Fusion Suite: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Radar (RCS &gt; (d/3500)²×0.02), EO/IR camera cone (45° FOV), RF detector (2.4/5.8 GHz), Acoustic array (650m).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41513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A8A"/>
                </a:solidFill>
              </a:rPr>
              <a:t>IFF Squawk Simulation: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Models transponder states: Valid Squawk, Intermittent Faulty Squawk, or No Response.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51960" y="9601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960120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2: TACTICAL C2 &amp; ENGAGEMENT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7C3AED"/>
                </a:solidFill>
              </a:rPr>
              <a:t>2D Tactical Radar Scope: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High-performance 60 FPS HTML5 canvas, 3500m radius, range rings (500m alert ring), 240°/s sweep.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0" y="20665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7C3AED"/>
                </a:solidFill>
              </a:rPr>
              <a:t>Operator Track Acknowledgement [D]: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Trainees log target contact, recording reaction latency against threat appearance.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27614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7C3AED"/>
                </a:solidFill>
              </a:rPr>
              <a:t>Optical Camera Slew &amp; Classify [1-6]: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Slews optical camera to target bearing to verify visual feed before engagement.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0" y="34564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7C3AED"/>
                </a:solidFill>
              </a:rPr>
              <a:t>Multi-Tier Countermeasure Suite: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RF Jammer [J]: 1800m range, 10s cooldown (fails on autonomous guidance)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Soft-Kill [S]: 2200m range GPS spoof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Hard-Kill [H]: Kinetic interceptor (8 ammo)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0" y="41513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7C3AED"/>
                </a:solidFill>
              </a:rPr>
              <a:t>Base Tactical Alarm [A]: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Orders personnel into fortified bunkers, halving asset impact damage from 25% to 12.5%.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38160" y="9601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960120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3: SCORING, AI DEBRIEF &amp; AAR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59669"/>
                </a:solidFill>
              </a:rPr>
              <a:t>Quantitative 5-Axis Rubric: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Detection Speed (25%)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Classification Accuracy (25%)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Engagement Tree (30%)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Resource Efficiency (10%)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Asset Health (10%)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20665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59669"/>
                </a:solidFill>
              </a:rPr>
              <a:t>Per-Entity Decision Tree: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Node-by-node pass/fail verification: Target ID, Non-hostile protection, Weapon suitability, Perimeter intercept.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75320" y="27614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59669"/>
                </a:solidFill>
              </a:rPr>
              <a:t>Fratricide &amp; Collateral Penalties: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-25 pts deduction per friendly UAV fratricide; severe penalties for ammo wasted on birds.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345643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59669"/>
                </a:solidFill>
              </a:rPr>
              <a:t>Dual AI Tactical Instructor: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Deterministic military tactical coaching + optional OpenAI/Gemini/Anthropic LLM API integration.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75320" y="41513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59669"/>
                </a:solidFill>
              </a:rPr>
              <a:t>AAR Replay &amp; Export Suite: 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Interactive 4Hz timeline scrubber revealing ground truth, Chart.js radar charts, and military jsPDF report export.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2578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321808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TECHNOLOGY STACK ARCHITECTURE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CORE &amp; SIMULATION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React 19, TypeScript 6.0,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Vite 8.3, 60 FPS HTML5 Canvas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37744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SCENARIO &amp; PRNG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Mulberry32 PRNG (Seeded),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Vector Physics Kinematics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5196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STYLING &amp; ICONS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TailwindCSS v4,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Lucide React Icons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2648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CHARTS &amp; ANALYTICS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Chart.js v4, React-Chartjs-2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(Skill Radar, Line, Bar)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00100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REPORTING &amp; AUDIT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jsPDF (Military AAR PDF),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JSON Session Telemetry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75520" y="5596128"/>
            <a:ext cx="178308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21240" y="5623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AI DEBRIEF ENGINE
</a:t>
            </a:r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Rule-Based RoE Expert System,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</a:rPr>
              <a:t>OpenAI / Gemini LLM API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FEASIBILITY AND VIABILITY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1828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182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0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60120"/>
            <a:ext cx="5486400" cy="347472"/>
          </a:xfrm>
          <a:prstGeom prst="roundRect">
            <a:avLst>
              <a:gd name="adj" fmla="val 26316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601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FEASIBILITY &amp; VERIFICATION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08176"/>
            <a:ext cx="5029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65F46"/>
                </a:solidFill>
              </a:rPr>
              <a:t>1. Engineering Maturity (Deployed)
</a:t>
            </a:r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6 comprehensive operational pages: Profile, Scenario Select, Tactical Sim, Debrief, AAR Dashboard, Leaderboard.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Strict TypeScript typings across all simulation entities, sensors, and scoring tree states.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Sub-millisecond physics updates running smoothly at native 60 FPS.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04288"/>
            <a:ext cx="5029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40AF"/>
                </a:solidFill>
              </a:rPr>
              <a:t>2. Functional Prototype (Empirical)
</a:t>
            </a:r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5 pre-scripted tactical training missions + unlimited procedural seed generation.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Multi-sensor toggles (Radar, EO/IR, RF, Acoustic) with optical slewing and 3-tier countermeasure deployment.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Complete post-mission AAR with automated PDF generation and JSON export.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0"/>
            <a:ext cx="5029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2400E"/>
                </a:solidFill>
              </a:rPr>
              <a:t>3. Zero-Hardware Footprint (Theoretical)
</a:t>
            </a:r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100% client-side web execution on standard COTS laptops with zero dedicated GPU or radar equipment.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Operates completely offline, making it deployable in air-gapped military field bases with zero data leakage risk.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4059936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96512"/>
            <a:ext cx="5029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5B21B6"/>
                </a:solidFill>
              </a:rPr>
              <a:t>4. Measured Efficiency (Simulated)
</a:t>
            </a:r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Mulberry32 PRNG generates complex balanced missions in under 2 ms.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Full decision tree evaluation across all targets executes in &lt; 1 ms at mission completion.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• Downsampled 4Hz telemetry frames allow instant scrubbing with minimal RAM usage.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57607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960120"/>
            <a:ext cx="576072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960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RISKS &amp; MITIGATION STRATEGIES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9903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Hardware Limitations in Field Units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Software-only, browser-native client runs on standard issue laptops with zero installation requirements.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72200" y="1883664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1109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Trainee Over-Reliance on RF Jammers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Simulated autonomous &amp; fiber-optic drones immune to RF jamming, forcing kinetic interception and base alarms.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72200" y="2395728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42316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High False Alarm Rates on Birds / Decoys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Realistic Radar Cross Section (RCS &lt; 0.01 dBSM) and optical confidence modeling with strict RoE penalties.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72200" y="2907792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93522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Fratricide Risk from Faulty Friendly IFF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Simulated intermittent IFF squawks forcing trainees to cross-verify visual feeds via EO/IR before launching kinetic fire.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72200" y="3419856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44728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Scenario Memorization &amp; Cheating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Deterministic Mulberry32 procedural generator creates billions of unique, balanced training airspace scenarios.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72200" y="3931920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95935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Negative Training &amp; Unexplained Penalties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Automated decision-tree breakdown exposes exact node failures, paired with AI instructor tactical coaching.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72200" y="4443984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47141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E11D48"/>
                </a:solidFill>
              </a:rPr>
              <a:t>⚠ Risk: Inconsistent Unit Training Visibility
</a:t>
            </a:r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✔ Mitigation: Platoon-wide readiness index and aggregated mistake-category analytics identify squad-level weaknesses.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516636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2303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SCALABILITY &amp; DEPLOYMENT ROADMAP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5559552"/>
            <a:ext cx="25511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0B981"/>
                </a:solidFill>
              </a:rPr>
              <a:t>PHASE 1 (COMPLETED): Software-Only Prototype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CBD5E1"/>
                </a:solidFill>
              </a:rPr>
              <a:t>React 19 + TypeScript + 60 FPS Canvas C-UAS Simulator with 5 Scripted Scenarios, Decision Tree Scoring &amp; AAR PDF.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553212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5559552"/>
            <a:ext cx="25511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6B6D4"/>
                </a:solidFill>
              </a:rPr>
              <a:t>PHASE 2 (PLANNED): WebXR / 3D VR Mode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CBD5E1"/>
                </a:solidFill>
              </a:rPr>
              <a:t>Immersive 3D command tower view using Three.js &amp; WebXR for VR headset training, simulating elevated base vantage points.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72200" y="553212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5559552"/>
            <a:ext cx="25511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B5CF6"/>
                </a:solidFill>
              </a:rPr>
              <a:t>PHASE 3 (PLANNED): Multi-User Red-Teaming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CBD5E1"/>
                </a:solidFill>
              </a:rPr>
              <a:t>WebSocket / WebRTC instructor console allowing live adversary piloting of drone swarms against trainees in real-time.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06840" y="553212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79992" y="5559552"/>
            <a:ext cx="25511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9E0B"/>
                </a:solidFill>
              </a:rPr>
              <a:t>PHASE 4 (FUTURE): Field Hardware Feed Ingest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CBD5E1"/>
                </a:solidFill>
              </a:rPr>
              <a:t>Integration with real-world ASTERIX Cat 048/062 radar protocol feeds and thermal RTSP camera streams for operational C2.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IMPACTS &amp; BENEFITS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1828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182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3A8A"/>
                </a:solidFill>
              </a:rPr>
              <a:t>Transforming unit-level soldier readiness against asymmetric drone and swarm warfare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1F2"/>
          </a:solidFill>
          <a:ln w="19050">
            <a:solidFill>
              <a:srgbClr val="FDA4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53312"/>
            <a:ext cx="411480" cy="4114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National Defence &amp; Frontline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74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Rapidly instills instinctual detection, classification, and engagement discipline against loitering munitions, FPVs, and swarms.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Mitigates catastrophic fratricide risks through strict transponder cross-verification drills.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Enforces base alarm discipline, cutting personnel and infrastructure damage by 50% during perimeter breaches.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35331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Cost-Effective Mass Unit 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874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Replaces multi-crore specialized defense simulator hardware with zero-cost software deployable across standard unit laptops.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Eliminates recurring logistical expenses, battery consumption, and safety hazards of flying live drones for daily drills.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Enables routine, continuous operator qualification at the company and platoon level.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38160" y="12344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35331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Objective Command Visibility &amp; Auditing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18745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Unit Readiness Index provides commanding officers with data-driven insight into individual and squad competency.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Aggregates recurring mistake categories (e.g. jammer spamming, late detection) for targeted remedial training.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Standardized military-grade AAR PDF dossiers provide verifiable evidence of mission qualification.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BENEFITS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05072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05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TACTICAL READINESS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434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Prepares soldiers for complex asymmetric threats (autonomous, kamikaze, swarms, recon).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910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Trains multi-sensor coordination: radar sweep, RF frequency matching, optical slewing, acoustic range.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5385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Instills weapon selection discipline: RF jammer vs. soft-kill spoofing vs. kinetic interceptors.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58613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Enforces base alarm sounding discipline to protect base personnel during incoming strikes.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51960" y="4005072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4005072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005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&amp; TRUST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4434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Rigorous 5-dimension scoring rubric with heavy penalties for friendly fratricide and civilian collateral damage.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0" y="4910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Node-by-node decision tree explainability: every pass/fail verdict is fully auditable and justified.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89120" y="5385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Dual-engine AI feedback: rule-based operational advice + optional LLM military instructor analysis.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0" y="58613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Tamper-proof local session logging with full action chronological history.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38160" y="4005072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005072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005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ACCESSIBLE RESEARCH &amp; DEPLOYMENT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75320" y="4434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100% offline client-side React architecture: operates securely in classified air-gapped military networks.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75320" y="4910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Deterministic Mulberry32 seed sharing enables synchronized, standardized platoon competitions.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75320" y="5385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Modular architecture allows seamless integration of new drone behavior algorithms and sensors.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75320" y="58613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• Automated military-grade After-Action Report (PDF) generation for training dossiers.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RESEARCH AND 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18288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182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704088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60120"/>
            <a:ext cx="704088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601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COMPETITIVE ADVANTAGE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6949440" cy="3794760"/>
        </p:xfrm>
        <a:graphic>
          <a:graphicData uri="http://schemas.openxmlformats.org/drawingml/2006/table">
            <a:tbl>
              <a:tblPr/>
              <a:tblGrid>
                <a:gridCol w="1463040"/>
                <a:gridCol w="1325880"/>
                <a:gridCol w="1325880"/>
                <a:gridCol w="1234440"/>
                <a:gridCol w="1600200"/>
              </a:tblGrid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Evaluation Criterion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Traditional Field Drills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Proprietary Simulators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Commercial COTS Games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OUR C-UAS TRAINER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Hardware Footprint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Physical Drones &amp; Jammers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Dedicated Cockpits/C2 Racks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High-End Gaming Rig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Zero HW: Standard Laptop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Unit Cost &amp; Scalability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Extremely High (Fuel/Ammo)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₹50 Lakhs - ₹2 Cr per unit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Moderate License Fees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Zero-Cost Mass Scalability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Threat Diversity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1-2 Drones at a time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Scripted Air Targets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Non-military / arcade physics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6 Classes: Swarm, Auto, FPV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RoE Decision Tree Audit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Subjective human observer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Basic pass/fail score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None (Hitpoints only)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Granular node-by-node pass/fail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Multi-Sensor Fusion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Live physical sensors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High-fidelity hardware links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Single radar minimap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4 Sensors: Radar, EO, RF, Mic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Telemetry &amp; Replay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Video recording only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Fixed proprietary replay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Simple screen playback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4Hz Scrubbable Ground-Truth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Adaptive Remediation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Manual instructor tuning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Static syllabus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Generic difficulty slider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Rolling 5-Session Weakness AI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Offline Air-Gapped Use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Field physical only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Facility-bound hardware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Often requires cloud DRM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100% Offline Client-Side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5303520"/>
            <a:ext cx="70408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36752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PROJECT RESOURCES &amp; SPECIFICATIONS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5623560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• Problem Statement: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PS 26247 — AI-Enabled Drone &amp; Counter-Drone Threat Simulation Trainer
</a:t>
            </a:r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• Local Simulation Build: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http://localhost:5173 (React 19 + TypeScript + Vite 8.3)
</a:t>
            </a:r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• Deployment Footprint: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Zero external runtime dependencies; operates completely standalone &amp; offline.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589520" y="960120"/>
            <a:ext cx="4206240" cy="54864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960120"/>
            <a:ext cx="420624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77266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PAPERS &amp; MILITARY REFERENCES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26680" y="1325880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COUNTER-UAS DOCTRINE &amp; STANDARDS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26680" y="16459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[1] Indian Army / MoD Technology Perspective and Capability Roadmap (Counter-UAS Systems, 2024)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726680" y="20665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[2] NATO ATP-3.3.8.1 — Countering Unmanned Aircraft Systems Tactics, Techniques, and Procedures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7726680" y="24871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[3] US DoD Joint C-sUAS Office (JCO) Operational Requirements &amp; Capability Framework (2024)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726680" y="2980944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RADAR &amp; SENSOR FUSION MODELING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26680" y="33009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[4] Skolnik, M. I., Introduction to Radar Systems, McGraw-Hill (Radar Cross Section &amp; Swerling Models)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726680" y="37216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[5] Bar-Shalom et al., Tracking and Data Fusion: A Tool for Engineers (Multi-Sensor Estimation)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726680" y="414223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[6] EUROCONTROL ASTERIX Standard Cat 048/062 Surveillance Data Exchange (2023)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726680" y="4636008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0" y="4636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PROCEDURAL GENERATION &amp; TACTICAL PEDAGOGY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26680" y="49560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[7] Mulberry32 32-bit Pseudo-Random Number Generator Algorithm Specification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7726680" y="5376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[8] Bloom's Revised Taxonomy for Military Simulation &amp; Decision-Making Drills (2022)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7726680" y="57972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[9] Sweller, J., Cognitive Load Theory in Tactical Simulation and Emergency Decision Systems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Ministry of Defence / C-UAS Simulator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Drone &amp; Counter-Drone Threat Simulation Trainer (PS 26247)</dc:title>
  <dc:subject>PptxGenJS Presentation</dc:subject>
  <dc:creator>Smart India Hackathon Team</dc:creator>
  <cp:lastModifiedBy>Smart India Hackathon Team</cp:lastModifiedBy>
  <cp:revision>1</cp:revision>
  <dcterms:created xsi:type="dcterms:W3CDTF">2026-10-03T05:40:25Z</dcterms:created>
  <dcterms:modified xsi:type="dcterms:W3CDTF">2026-10-03T05:40:25Z</dcterms:modified>
</cp:coreProperties>
</file>
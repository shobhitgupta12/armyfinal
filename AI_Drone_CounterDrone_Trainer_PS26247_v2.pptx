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222992" y="365760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2992" y="3657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HACKATHON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• Problem Statement ID –</a:t>
            </a:r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</a:rPr>
              <a:t> 26247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• Problem Statement Title –</a:t>
            </a:r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</a:rPr>
              <a:t> AI-Enabled Drone &amp; Counter-Drone Threat Simulation Trainer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871216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• Theme –</a:t>
            </a:r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</a:rPr>
              <a:t> Robotics &amp; Drones / Defence / Security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• PS Category –</a:t>
            </a:r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</a:rPr>
              <a:t> Software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43708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• Team ID –</a:t>
            </a:r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</a:rPr>
              <a:t> 179587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• Team Name –</a:t>
            </a:r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</a:rPr>
              <a:t> Vanguard_C-UAS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06640" y="1325880"/>
            <a:ext cx="4297680" cy="4754880"/>
          </a:xfrm>
          <a:prstGeom prst="rect">
            <a:avLst/>
          </a:prstGeom>
          <a:solidFill>
            <a:srgbClr val="0A1118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1691640"/>
            <a:ext cx="3474720" cy="3474720"/>
          </a:xfrm>
          <a:prstGeom prst="ellipse">
            <a:avLst/>
          </a:prstGeom>
          <a:ln w="12700">
            <a:solidFill>
              <a:srgbClr val="059669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366760" y="2240280"/>
            <a:ext cx="2377440" cy="2377440"/>
          </a:xfrm>
          <a:prstGeom prst="ellipse">
            <a:avLst/>
          </a:prstGeom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697480"/>
            <a:ext cx="1463040" cy="1463040"/>
          </a:xfrm>
          <a:prstGeom prst="ellipse">
            <a:avLst/>
          </a:prstGeom>
          <a:ln w="19050">
            <a:solidFill>
              <a:srgbClr val="E11D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32461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DEFENDED BASE (0,0)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201168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TRK-101 [HOSTILE ATTACK]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515600" y="246888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TRK-102 [FRIENDLY]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058400" y="42976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TRK-103 [BIRD/DECOY]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0" y="5257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TACTICAL C-UAS SIMULATOR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60 FPS Canvas • 4-Sensor Fusion • Decision Tree Auditing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1645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IDEA AND PROPOSED SOLUTION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22992" y="182880"/>
            <a:ext cx="15087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2992" y="182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68680"/>
            <a:ext cx="5349240" cy="329184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8686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OPERATIONAL &amp; TRAINING GAP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E11D48"/>
                </a:solidFill>
              </a:rPr>
              <a:t>• Asymmetric Aerial Threat: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Low-cost commercial drones, FPV kamikazes, and swarms outpace traditional air-defence economics.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E11D48"/>
                </a:solidFill>
              </a:rPr>
              <a:t>• Hardware Training Bottleneck: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Flying physical drone swarms and firing live kinetic/RF gear is cost-prohibitive, hazardous, and logistically restricted.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E11D48"/>
                </a:solidFill>
              </a:rPr>
              <a:t>• Multi-Vector Cognitive Overload: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Differentiating hostile recon, autonomous FPVs (RF-immune), friendly UAVs, and birds causes severe decision paralysis.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E11D48"/>
                </a:solidFill>
              </a:rPr>
              <a:t>• Absence of Quantified Auditing: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Conventional field drills lack second-by-second RoE decision tree auditing, replay telemetry, and adaptive remediation.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5349240" cy="329184"/>
          </a:xfrm>
          <a:prstGeom prst="roundRect">
            <a:avLst>
              <a:gd name="adj" fmla="val 22222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260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HOW IT ADDRESSES THE PROBLEM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5166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• Zero-Hardware Client Engine: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Runs natively on standard COTS laptops at 60 FPS with zero specialized radar or GPU infrastructure.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• Multi-Sensor Physical Fidelity: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Simulates Radar RCS, EO/IR optical slewing, RF spectrum band detection (2.4/5.8 GHz/SATCOM), and Acoustic array.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• Strict RoE Decision Tree: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Automated verification enforces fratricide protection, penalizes decoy strikes, and validates weapon suitability.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• Dynamic Adaptive Personalization: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Rolling 5-session performance tracking automatically identifies operator weak points and scales difficulty (1-10).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• Comprehensive AAR &amp; Export: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Scrubbable 4Hz timeline replay with ground-truth reveal, automated military-grade PDF reporting, and JSON export.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989320" y="868680"/>
            <a:ext cx="57424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868680"/>
            <a:ext cx="5742432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86868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PROPOSED SYSTEM ARCHITECTURE &amp; WORKFLOW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08192" y="1325880"/>
            <a:ext cx="987552" cy="1371600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353312"/>
            <a:ext cx="9509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65F46"/>
                </a:solidFill>
              </a:rPr>
              <a:t>Layer 0: Physics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65F46"/>
                </a:solidFill>
              </a:rPr>
              <a:t>&amp; Sensor Engine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65F46"/>
                </a:solidFill>
              </a:rPr>
              <a:t>(Radar/EO/RF/Mic)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7086600" y="18288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→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23760" y="1325880"/>
            <a:ext cx="987552" cy="137160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1353312"/>
            <a:ext cx="9509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E40AF"/>
                </a:solidFill>
              </a:rPr>
              <a:t>Procedural Gen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E40AF"/>
                </a:solidFill>
              </a:rPr>
              <a:t>(Mulberry32 PRNG)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E40AF"/>
                </a:solidFill>
              </a:rPr>
              <a:t>&amp; Scripted Waves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8202168" y="18288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→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39328" y="1325880"/>
            <a:ext cx="987552" cy="1371600"/>
          </a:xfrm>
          <a:prstGeom prst="roundRect">
            <a:avLst>
              <a:gd name="adj" fmla="val 7407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1353312"/>
            <a:ext cx="9509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2400E"/>
                </a:solidFill>
              </a:rPr>
              <a:t>Tactical Scope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92400E"/>
                </a:solidFill>
              </a:rPr>
              <a:t>&amp; Countermeasure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92400E"/>
                </a:solidFill>
              </a:rPr>
              <a:t>(Jam/Soft/Kinetic)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9317736" y="18288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→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54896" y="1325880"/>
            <a:ext cx="987552" cy="1371600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73184" y="1353312"/>
            <a:ext cx="9509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21B6"/>
                </a:solidFill>
              </a:rPr>
              <a:t>Scoring Rubric &amp;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5B21B6"/>
                </a:solidFill>
              </a:rPr>
              <a:t>Per-Entity Decision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5B21B6"/>
                </a:solidFill>
              </a:rPr>
              <a:t>Tree Evaluation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10433304" y="18288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→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570464" y="1325880"/>
            <a:ext cx="987552" cy="1371600"/>
          </a:xfrm>
          <a:prstGeom prst="roundRect">
            <a:avLst>
              <a:gd name="adj" fmla="val 7407"/>
            </a:avLst>
          </a:prstGeom>
          <a:solidFill>
            <a:srgbClr val="FFF1F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88752" y="1353312"/>
            <a:ext cx="9509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F1239"/>
                </a:solidFill>
              </a:rPr>
              <a:t>AAR Replay Player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9F1239"/>
                </a:solidFill>
              </a:rPr>
              <a:t>&amp; Unit Readiness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9F1239"/>
                </a:solidFill>
              </a:rPr>
              <a:t>Leaderboard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5989320" y="2926080"/>
            <a:ext cx="57424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2926080"/>
            <a:ext cx="5742432" cy="329184"/>
          </a:xfrm>
          <a:prstGeom prst="roundRect">
            <a:avLst>
              <a:gd name="adj" fmla="val 22222"/>
            </a:avLst>
          </a:prstGeom>
          <a:solidFill>
            <a:srgbClr val="BE185D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292608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TECHNICAL INNOVATION &amp; UNIQUENESS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80760" y="3291840"/>
            <a:ext cx="5532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BE185D"/>
                </a:solidFill>
              </a:rPr>
              <a:t>• Deterministic 100% Solvable Seed Generator: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Mulberry32 PRNG guarantees exact scenario reproducibility across squads with seed-sharing.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BE185D"/>
                </a:solidFill>
              </a:rPr>
              <a:t>• Autonomous / Fiber-Optic Drone Modeling: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Simulates RF-silent threats immune to jamming, teaching trainees when to conserve RF pulses and fire kinetic rounds.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BE185D"/>
                </a:solidFill>
              </a:rPr>
              <a:t>• Dual-Engine AI Instructor: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Instant deterministic tactical feedback + optional zero-latency LLM debrief API for constructive military critique.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BE185D"/>
                </a:solidFill>
              </a:rPr>
              <a:t>• Interactive Ground-Truth Replay: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4Hz downsampled frame scrubbing with green true-entity overlays vs operator actions for deep post-mission audit.
</a:t>
            </a:r>
            <a:pPr indent="0" marL="0">
              <a:lnSpc>
                <a:spcPct val="115000"/>
              </a:lnSpc>
              <a:buNone/>
            </a:pPr>
            <a:r>
              <a:rPr lang="en-US" sz="820" b="1" dirty="0">
                <a:solidFill>
                  <a:srgbClr val="BE185D"/>
                </a:solidFill>
              </a:rPr>
              <a:t>• Zero Backend Dependency: </a:t>
            </a:r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100% browser-native React 19 + TypeScript + HTML5 Canvas, operating entirely offline in field command posts.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7200" y="50749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5120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TARGET &amp; THREAT CLASSES SIMULATED &amp; IDENTIFIED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① Hostile Attack
</a:t>
            </a:r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</a:rPr>
              <a:t>Kamikaze / Autonomous (32 m/s)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37744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1401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② Hostile Recon
</a:t>
            </a:r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</a:rPr>
              <a:t>Loitering Quadcopter (14 m/s)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5196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8853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</a:rPr>
              <a:t>③ Hostile Swarm
</a:t>
            </a:r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</a:rPr>
              <a:t>Coordinated Wave (24 m/s)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305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④ Friendly Patrol
</a:t>
            </a:r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</a:rPr>
              <a:t>Intermittent/Valid IFF (22 m/s)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00100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3757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B308"/>
                </a:solidFill>
              </a:rPr>
              <a:t>⑤ Civilian Drone
</a:t>
            </a:r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</a:rPr>
              <a:t>Erratic Commercial (9 m/s)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87552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1209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⑥ Bird / Decoy
</a:t>
            </a:r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</a:rPr>
              <a:t>Low RCS &lt; 0.01 dBSM (7 m/s)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1645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TECHNICAL APPROACH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22992" y="182880"/>
            <a:ext cx="15087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2992" y="182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68680"/>
            <a:ext cx="3611880" cy="329184"/>
          </a:xfrm>
          <a:prstGeom prst="roundRect">
            <a:avLst>
              <a:gd name="adj" fmla="val 22222"/>
            </a:avLst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8686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1: SCENARIO &amp; SENSOR SYNTHESIS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2618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Procedural Scenario Generator: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Mulberry32 PRNG ensures deterministic, reproducible threat waves from integer seeds.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594360" y="195681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Environmental Degradation Matrix: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Day/Night visibility, Fog (EO penalty 0.35), Rain (Radar 2800m), Urban shadow zones.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Kinematic Behavior Models: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Direct attack vector, loitering recon orbit, sinusoidal swarm wave, erratic civilian/bird flight.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94360" y="334670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Multi-Sensor Fusion Suite: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Radar (RCS &gt; (d/3500)²×0.02), EO/IR camera cone (45° FOV), RF detector (2.4/5.8 GHz), Acoustic array (650m).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94360" y="404164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1E3A8A"/>
                </a:solidFill>
              </a:rPr>
              <a:t>IFF Squawk Simulation: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Models transponder states: Valid Squawk, Intermittent Faulty Squawk, or No Response.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288536" y="86868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88536" y="868680"/>
            <a:ext cx="361188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379976" y="8686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2: TACTICAL C2 &amp; ENGAGEMENT LAYER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25696" y="12618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7C3AED"/>
                </a:solidFill>
              </a:rPr>
              <a:t>2D Tactical Radar Scope: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High-performance 60 FPS HTML5 canvas, 3500m radius, range rings (500m alert ring), 240°/s sweep.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425696" y="195681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7C3AED"/>
                </a:solidFill>
              </a:rPr>
              <a:t>Operator Track Acknowledgement [D]: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Trainees log target contact, recording reaction latency against threat appearance.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425696" y="26517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7C3AED"/>
                </a:solidFill>
              </a:rPr>
              <a:t>Optical Camera Slew &amp; Classify [1-6]: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Slews optical camera to target bearing to verify visual feed before engagement.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425696" y="334670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7C3AED"/>
                </a:solidFill>
              </a:rPr>
              <a:t>Multi-Tier Countermeasure Suite: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• RF Jammer [J]: 1800m range, 10s cooldown (fails on autonomous guidance)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• Soft-Kill [S]: 2200m range GPS spoof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• Hard-Kill [H]: Kinetic interceptor (8 ammo)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425696" y="404164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7C3AED"/>
                </a:solidFill>
              </a:rPr>
              <a:t>Base Tactical Alarm [A]: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Orders personnel into fortified bunkers, halving asset impact damage from 25% to 12.5%.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119872" y="86868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868680"/>
            <a:ext cx="3611880" cy="329184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312" y="8686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3: SCORING, AI DEBRIEF &amp; AAR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57032" y="12618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059669"/>
                </a:solidFill>
              </a:rPr>
              <a:t>Quantitative 5-Axis Rubric: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• Detection Speed (25%)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• Classification Accuracy (25%)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• Engagement Tree (30%)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• Resource Efficiency (10%)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• Asset Health (10%)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257032" y="195681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059669"/>
                </a:solidFill>
              </a:rPr>
              <a:t>Per-Entity Decision Tree: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Node-by-node pass/fail verification: Target ID, Non-hostile protection, Weapon suitability, Perimeter intercept.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257032" y="26517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059669"/>
                </a:solidFill>
              </a:rPr>
              <a:t>Fratricide &amp; Collateral Penalties: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-25 pts deduction per friendly UAV fratricide; severe penalties for ammo wasted on birds.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257032" y="334670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059669"/>
                </a:solidFill>
              </a:rPr>
              <a:t>Dual AI Tactical Instructor: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Deterministic military tactical coaching + optional OpenAI/Gemini/Anthropic LLM API integration.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257032" y="404164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059669"/>
                </a:solidFill>
              </a:rPr>
              <a:t>AAR Replay &amp; Export Suite: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Interactive 4Hz timeline scrubber revealing ground truth, Chart.js radar charts, and military jsPDF report export.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57200" y="50749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5120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TECHNOLOGY STACK ARCHITECTURE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CORE &amp; SIMULATION
</a:t>
            </a:r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React 19, TypeScript 6.0,</a:t>
            </a:r>
            <a:endParaRPr lang="en-US" sz="7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Vite 8.3, 60 FPS HTML5 Canvas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37744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1401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SCENARIO &amp; PRNG
</a:t>
            </a:r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Mulberry32 PRNG (Seeded),</a:t>
            </a:r>
            <a:endParaRPr lang="en-US" sz="7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Vector Physics Kinematics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25196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8853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STYLING &amp; ICONS
</a:t>
            </a:r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TailwindCSS v4,</a:t>
            </a:r>
            <a:endParaRPr lang="en-US" sz="7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Lucide React Icons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12648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6305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CHARTS &amp; ANALYTICS
</a:t>
            </a:r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Chart.js v4, React-Chartjs-2</a:t>
            </a:r>
            <a:endParaRPr lang="en-US" sz="7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(Skill Radar, Line, Bar)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00100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3757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REPORTING &amp; AUDIT
</a:t>
            </a:r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jsPDF (Military AAR PDF),</a:t>
            </a:r>
            <a:endParaRPr lang="en-US" sz="7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JSON Session Telemetry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875520" y="541324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12096" y="5440680"/>
            <a:ext cx="1709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AI DEBRIEF ENGINE
</a:t>
            </a:r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Rule-Based RoE Expert System,</a:t>
            </a:r>
            <a:endParaRPr lang="en-US" sz="7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E2E8F0"/>
                </a:solidFill>
              </a:rPr>
              <a:t>OpenAI / Gemini LLM API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1645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FEASIBILITY AND VIABILITY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22992" y="182880"/>
            <a:ext cx="15087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2992" y="182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54406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6868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86868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FEASIBILITY &amp; VERIFICATION ANALYSIS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1261872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298448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065F46"/>
                </a:solidFill>
              </a:rPr>
              <a:t>1. Engineering Maturity (Deployed)
</a:t>
            </a:r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6 comprehensive operational pages: Profile, Scenario Select, Tactical Sim, Debrief, AAR Dashboard, Leaderboard.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Strict TypeScript typings across all simulation entities, sensors, and scoring tree states.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Sub-millisecond physics updates running smoothly at native 60 FPS.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12848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1E40AF"/>
                </a:solidFill>
              </a:rPr>
              <a:t>2. Functional Prototype (Empirical)
</a:t>
            </a:r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5 pre-scripted tactical training missions + unlimited procedural seed generation.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Multi-sensor toggles (Radar, EO/IR, RF, Acoustic) with optical slewing and 3-tier countermeasure deployment.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Complete post-mission AAR with automated PDF generation and JSON export.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94360" y="3090672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27248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92400E"/>
                </a:solidFill>
              </a:rPr>
              <a:t>3. Zero-Hardware Footprint (Theoretical)
</a:t>
            </a:r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100% client-side web execution on standard COTS laptops with zero dedicated GPU or radar equipment.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Operates completely offline, making it deployable in air-gapped military field bases with zero data leakage risk.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94360" y="4005072"/>
            <a:ext cx="5166360" cy="859536"/>
          </a:xfrm>
          <a:prstGeom prst="roundRect">
            <a:avLst>
              <a:gd name="adj" fmla="val 8511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41648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b="1" dirty="0">
                <a:solidFill>
                  <a:srgbClr val="5B21B6"/>
                </a:solidFill>
              </a:rPr>
              <a:t>4. Measured Efficiency (Simulated)
</a:t>
            </a:r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Mulberry32 PRNG generates complex balanced missions in under 2 ms.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Full decision tree evaluation across all targets executes in &lt; 1 ms at mission completion.</a:t>
            </a:r>
            <a:endParaRPr lang="en-US" sz="8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• Downsampled 4Hz telemetry frames allow instant scrubbing with minimal RAM usage.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80760" y="868680"/>
            <a:ext cx="5650992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868680"/>
            <a:ext cx="5650992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86868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OPERATIONAL RISKS &amp; MITIGATION STRATEGIES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1261872"/>
            <a:ext cx="5376672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280160"/>
            <a:ext cx="5193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E11D48"/>
                </a:solidFill>
              </a:rPr>
              <a:t>⚠ Risk: Hardware Limitations in Field Units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0F172A"/>
                </a:solidFill>
              </a:rPr>
              <a:t>✔ Mitigation: Software-only, browser-native client runs on standard issue laptops with zero installation requirements.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217920" y="1773936"/>
            <a:ext cx="53766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792224"/>
            <a:ext cx="5193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E11D48"/>
                </a:solidFill>
              </a:rPr>
              <a:t>⚠ Risk: Trainee Over-Reliance on RF Jammers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0F172A"/>
                </a:solidFill>
              </a:rPr>
              <a:t>✔ Mitigation: Simulated autonomous &amp; fiber-optic drones immune to RF jamming, forcing kinetic interception and base alarms.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6217920" y="2286000"/>
            <a:ext cx="5376672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304288"/>
            <a:ext cx="5193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E11D48"/>
                </a:solidFill>
              </a:rPr>
              <a:t>⚠ Risk: High False Alarm Rates on Birds / Decoys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0F172A"/>
                </a:solidFill>
              </a:rPr>
              <a:t>✔ Mitigation: Realistic Radar Cross Section (RCS &lt; 0.01 dBSM) and optical confidence modeling with strict RoE penalties.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217920" y="2798064"/>
            <a:ext cx="53766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816352"/>
            <a:ext cx="5193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E11D48"/>
                </a:solidFill>
              </a:rPr>
              <a:t>⚠ Risk: Fratricide Risk from Faulty Friendly IFF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0F172A"/>
                </a:solidFill>
              </a:rPr>
              <a:t>✔ Mitigation: Simulated intermittent IFF squawks forcing trainees to cross-verify visual feeds via EO/IR before launching kinetic fire.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217920" y="3310128"/>
            <a:ext cx="5376672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328416"/>
            <a:ext cx="5193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E11D48"/>
                </a:solidFill>
              </a:rPr>
              <a:t>⚠ Risk: Scenario Memorization &amp; Cheating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0F172A"/>
                </a:solidFill>
              </a:rPr>
              <a:t>✔ Mitigation: Deterministic Mulberry32 procedural generator creates billions of unique, balanced training airspace scenarios.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217920" y="3822192"/>
            <a:ext cx="53766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840480"/>
            <a:ext cx="5193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E11D48"/>
                </a:solidFill>
              </a:rPr>
              <a:t>⚠ Risk: Negative Training &amp; Unexplained Penalties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0F172A"/>
                </a:solidFill>
              </a:rPr>
              <a:t>✔ Mitigation: Automated decision-tree breakdown exposes exact node failures, paired with AI instructor tactical coaching.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6217920" y="4334256"/>
            <a:ext cx="5376672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352544"/>
            <a:ext cx="5193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b="1" dirty="0">
                <a:solidFill>
                  <a:srgbClr val="E11D48"/>
                </a:solidFill>
              </a:rPr>
              <a:t>⚠ Risk: Inconsistent Unit Training Visibility
</a:t>
            </a:r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0F172A"/>
                </a:solidFill>
              </a:rPr>
              <a:t>✔ Mitigation: Platoon-wide readiness index and aggregated mistake-category analytics identify squad-level weaknesses.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457200" y="50749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120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SCALABILITY &amp; DEPLOYMENT ROADMAP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413248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" y="5440680"/>
            <a:ext cx="2587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b="1" dirty="0">
                <a:solidFill>
                  <a:srgbClr val="10B981"/>
                </a:solidFill>
              </a:rPr>
              <a:t>PHASE 1 (COMPLETED): Software-Only Prototype
</a:t>
            </a:r>
            <a:pPr indent="0" marL="0">
              <a:lnSpc>
                <a:spcPct val="110000"/>
              </a:lnSpc>
              <a:buNone/>
            </a:pPr>
            <a:r>
              <a:rPr lang="en-US" sz="660" dirty="0">
                <a:solidFill>
                  <a:srgbClr val="CBD5E1"/>
                </a:solidFill>
              </a:rPr>
              <a:t>React 19 + TypeScript + 60 FPS Canvas C-UAS Simulator with 5 Scripted Scenarios, Decision Tree Scoring &amp; AAR PDF.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337560" y="5413248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92424" y="5440680"/>
            <a:ext cx="2587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b="1" dirty="0">
                <a:solidFill>
                  <a:srgbClr val="06B6D4"/>
                </a:solidFill>
              </a:rPr>
              <a:t>PHASE 2 (PLANNED): WebXR / 3D VR Mode
</a:t>
            </a:r>
            <a:pPr indent="0" marL="0">
              <a:lnSpc>
                <a:spcPct val="110000"/>
              </a:lnSpc>
              <a:buNone/>
            </a:pPr>
            <a:r>
              <a:rPr lang="en-US" sz="660" dirty="0">
                <a:solidFill>
                  <a:srgbClr val="CBD5E1"/>
                </a:solidFill>
              </a:rPr>
              <a:t>Immersive 3D command tower view using Three.js &amp; WebXR for VR headset training, simulating elevated base vantage points.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172200" y="5413248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5440680"/>
            <a:ext cx="2587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b="1" dirty="0">
                <a:solidFill>
                  <a:srgbClr val="8B5CF6"/>
                </a:solidFill>
              </a:rPr>
              <a:t>PHASE 3 (PLANNED): Multi-User Red-Teaming
</a:t>
            </a:r>
            <a:pPr indent="0" marL="0">
              <a:lnSpc>
                <a:spcPct val="110000"/>
              </a:lnSpc>
              <a:buNone/>
            </a:pPr>
            <a:r>
              <a:rPr lang="en-US" sz="660" dirty="0">
                <a:solidFill>
                  <a:srgbClr val="CBD5E1"/>
                </a:solidFill>
              </a:rPr>
              <a:t>WebSocket / WebRTC instructor console allowing live adversary piloting of drone swarms against trainees in real-time.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9006840" y="5413248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61704" y="5440680"/>
            <a:ext cx="2587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b="1" dirty="0">
                <a:solidFill>
                  <a:srgbClr val="F59E0B"/>
                </a:solidFill>
              </a:rPr>
              <a:t>PHASE 4 (FUTURE): Field Hardware Feed Ingest
</a:t>
            </a:r>
            <a:pPr indent="0" marL="0">
              <a:lnSpc>
                <a:spcPct val="110000"/>
              </a:lnSpc>
              <a:buNone/>
            </a:pPr>
            <a:r>
              <a:rPr lang="en-US" sz="660" dirty="0">
                <a:solidFill>
                  <a:srgbClr val="CBD5E1"/>
                </a:solidFill>
              </a:rPr>
              <a:t>Integration with real-world ASTERIX Cat 048/062 radar protocol feeds and thermal RTSP camera streams for operational C2.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1645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IMPACTS &amp; BENEFITS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22992" y="182880"/>
            <a:ext cx="15087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2992" y="182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E3A8A"/>
                </a:solidFill>
              </a:rPr>
              <a:t>Transforming unit-level soldier readiness against asymmetric drone and swarm warfare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1F2"/>
          </a:solidFill>
          <a:ln w="19050">
            <a:solidFill>
              <a:srgbClr val="FDA4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298448"/>
            <a:ext cx="365760" cy="3657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2801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National Defence &amp; Frontline Security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17830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Rapidly instills instinctual detection, classification, and engagement discipline against loitering munitions, FPVs, and swarms.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Mitigates catastrophic fratricide risks through strict transponder cross-verification drills.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Enforces base alarm discipline, cutting personnel and infrastructure damage by 50% during perimeter breaches.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288536" y="11887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129844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82896" y="12801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Cost-Effective Mass Unit Training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25696" y="17830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Replaces multi-crore specialized defense simulator hardware with zero-cost software deployable across standard unit laptops.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Eliminates recurring logistical expenses, battery consumption, and safety hazards of flying live drones for daily drills.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Enables routine, continuous operator qualification at the company and platoon level.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119872" y="11887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CFEFF"/>
          </a:solidFill>
          <a:ln w="19050">
            <a:solidFill>
              <a:srgbClr val="A5F3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57032" y="129844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257032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14232" y="12801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Objective Command Visibility &amp; Auditing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57032" y="17830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Unit Readiness Index provides commanding officers with data-driven insight into individual and squad competency.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Aggregates recurring mistake categories (e.g. jammer spamming, late detection) for targeted remedial training.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Standardized military-grade AAR PDF dossiers provide verifiable evidence of mission qualification.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800600" y="3429000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BENEFITS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822192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22192"/>
            <a:ext cx="3611880" cy="310896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82219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TACTICAL READINESS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418795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Prepares soldiers for complex asymmetric threats (autonomous, kamikaze, swarms, recon).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94360" y="46634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Trains multi-sensor coordination: radar sweep, RF frequency matching, optical slewing, acoustic range.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94360" y="513892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Instills weapon selection discipline: RF jammer vs. soft-kill spoofing vs. kinetic interceptors.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594360" y="561441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Enforces base alarm sounding discipline to protect base personnel during incoming strikes.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288536" y="3822192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88536" y="3822192"/>
            <a:ext cx="3611880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4379976" y="382219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SECURITY &amp; TRUST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25696" y="418795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Rigorous 5-dimension scoring rubric with heavy penalties for friendly fratricide and civilian collateral damage.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425696" y="46634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Node-by-node decision tree explainability: every pass/fail verdict is fully auditable and justified.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425696" y="513892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Dual-engine AI feedback: rule-based operational advice + optional LLM military instructor analysis.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425696" y="561441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Tamper-proof local session logging with full action chronological history.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8119872" y="3822192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19872" y="3822192"/>
            <a:ext cx="361188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8211312" y="382219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ACCESSIBLE RESEARCH &amp; DEPLOYMENT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57032" y="418795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100% offline client-side React architecture: operates securely in classified air-gapped military networks.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257032" y="46634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Deterministic Mulberry32 seed sharing enables synchronized, standardized platoon competitions.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8257032" y="513892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Modular architecture allows seamless integration of new drone behavior algorithms and sensors.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8257032" y="561441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0F172A"/>
                </a:solidFill>
              </a:rPr>
              <a:t>• Automated military-grade After-Action Report (PDF) generation for training dossiers.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Vanguard_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C-UAS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1645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RESEARCH AND REFERENCES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222992" y="182880"/>
            <a:ext cx="15087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2992" y="182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SMART INDIA
</a:t>
            </a:r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71323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68680"/>
            <a:ext cx="7132320" cy="310896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86868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COMPETITIVE ADVANTAGE MATRIX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7132320" cy="370332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1371600"/>
                <a:gridCol w="123444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Evaluation Criterion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Traditional Field Drills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Proprietary Simulators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Commercial COTS Games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OUR C-UAS TRAINER</a:t>
                      </a:r>
                      <a:endParaRPr lang="en-US" sz="72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Hardware Footprint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Physical Drones &amp; Jammers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Dedicated Cockpits/C2 Racks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High-End Gaming Rig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59669"/>
                          </a:solidFill>
                        </a:rPr>
                        <a:t>Zero HW: Standard Laptop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Unit Cost &amp; Scalability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Extremely High (Fuel/Ammo)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₹50 Lakhs - ₹2 Cr per unit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Moderate License Fees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59669"/>
                          </a:solidFill>
                        </a:rPr>
                        <a:t>Zero-Cost Mass Scalability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Threat Diversity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1-2 Drones at a time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Scripted Air Targets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Non-military / arcade physics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59669"/>
                          </a:solidFill>
                        </a:rPr>
                        <a:t>6 Classes: Swarm, Auto, FPV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RoE Decision Tree Audit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Subjective human observer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Basic pass/fail score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None (Hitpoints only)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59669"/>
                          </a:solidFill>
                        </a:rPr>
                        <a:t>Granular node-by-node pass/fail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Multi-Sensor Fusion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Live physical sensors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High-fidelity hardware links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Single radar minimap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59669"/>
                          </a:solidFill>
                        </a:rPr>
                        <a:t>4 Sensors: Radar, EO, RF, Mic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Telemetry &amp; Replay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Video recording only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Fixed proprietary replay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Simple screen playback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59669"/>
                          </a:solidFill>
                        </a:rPr>
                        <a:t>4Hz Scrubbable Ground-Truth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Adaptive Remediation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Manual instructor tuning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Static syllabus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Generic difficulty slider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59669"/>
                          </a:solidFill>
                        </a:rPr>
                        <a:t>Rolling 5-Session Weakness AI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Offline Air-Gapped Use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Field physical only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Facility-bound hardware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000000"/>
                          </a:solidFill>
                        </a:rPr>
                        <a:t>Often requires cloud DRM</a:t>
                      </a:r>
                      <a:endParaRPr lang="en-US" sz="66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59669"/>
                          </a:solidFill>
                        </a:rPr>
                        <a:t>100% Offline Client-Side</a:t>
                      </a:r>
                      <a:endParaRPr lang="en-US" sz="68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02920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508406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PROJECT RESOURCES &amp; SPECIFICATIONS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5340096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8BDF8"/>
                </a:solidFill>
              </a:rPr>
              <a:t>• Problem Statement: </a:t>
            </a:r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PS 26247 — AI-Enabled Drone &amp; Counter-Drone Threat Simulation Trainer
</a:t>
            </a:r>
            <a:pPr indent="0" marL="0">
              <a:buNone/>
            </a:pPr>
            <a:r>
              <a:rPr lang="en-US" sz="820" b="1" dirty="0">
                <a:solidFill>
                  <a:srgbClr val="38BDF8"/>
                </a:solidFill>
              </a:rPr>
              <a:t>• Local Simulation Build: </a:t>
            </a:r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http://localhost:5173 (React 19 + TypeScript + Vite 8.3)
</a:t>
            </a:r>
            <a:pPr indent="0" marL="0">
              <a:buNone/>
            </a:pPr>
            <a:r>
              <a:rPr lang="en-US" sz="820" b="1" dirty="0">
                <a:solidFill>
                  <a:srgbClr val="38BDF8"/>
                </a:solidFill>
              </a:rPr>
              <a:t>• Deployment Footprint: </a:t>
            </a:r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Zero external runtime dependencies; operates completely standalone &amp; offline.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772400" y="868680"/>
            <a:ext cx="3959352" cy="5440680"/>
          </a:xfrm>
          <a:prstGeom prst="roundRect">
            <a:avLst>
              <a:gd name="adj" fmla="val 1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0" y="868680"/>
            <a:ext cx="3959352" cy="310896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0" y="868680"/>
            <a:ext cx="3776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RESEARCH PAPERS &amp; MILITARY REFERENCES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882128" y="1234440"/>
            <a:ext cx="3739896" cy="256032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/>
        </p:spPr>
      </p:sp>
      <p:sp>
        <p:nvSpPr>
          <p:cNvPr id="19" name="Text 16"/>
          <p:cNvSpPr/>
          <p:nvPr/>
        </p:nvSpPr>
        <p:spPr>
          <a:xfrm>
            <a:off x="7909560" y="1234440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COUNTER-UAS DOCTRINE &amp; STANDARDS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7909560" y="1527048"/>
            <a:ext cx="3685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[1] Indian Army / MoD Technology Perspective and Capability Roadmap (Counter-UAS Systems, 2024)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909560" y="1929384"/>
            <a:ext cx="3685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[2] NATO ATP-3.3.8.1 — Countering Unmanned Aircraft Systems Tactics, Techniques, and Procedures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909560" y="2331720"/>
            <a:ext cx="3685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[3] US DoD Joint C-sUAS Office (JCO) Operational Requirements &amp; Capability Framework (2024)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882128" y="2788920"/>
            <a:ext cx="3739896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7909560" y="2788920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RADAR &amp; SENSOR FUSION MODELING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7909560" y="3081528"/>
            <a:ext cx="3685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[4] Skolnik, M. I., Introduction to Radar Systems, McGraw-Hill (Radar Cross Section &amp; Swerling Models)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909560" y="3483864"/>
            <a:ext cx="3685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[5] Bar-Shalom et al., Tracking and Data Fusion: A Tool for Engineers (Multi-Sensor Estimation)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909560" y="3886200"/>
            <a:ext cx="3685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[6] EUROCONTROL ASTERIX Standard Cat 048/062 Surveillance Data Exchange (2023)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882128" y="4343400"/>
            <a:ext cx="3739896" cy="256032"/>
          </a:xfrm>
          <a:prstGeom prst="roundRect">
            <a:avLst>
              <a:gd name="adj" fmla="val 21429"/>
            </a:avLst>
          </a:prstGeom>
          <a:solidFill>
            <a:srgbClr val="E11D48"/>
          </a:solidFill>
          <a:ln/>
        </p:spPr>
      </p:sp>
      <p:sp>
        <p:nvSpPr>
          <p:cNvPr id="29" name="Text 26"/>
          <p:cNvSpPr/>
          <p:nvPr/>
        </p:nvSpPr>
        <p:spPr>
          <a:xfrm>
            <a:off x="7909560" y="4343400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PROCEDURAL GENERATION &amp; TACTICAL PEDAGOGY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7909560" y="4636008"/>
            <a:ext cx="3685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[7] Mulberry32 32-bit Pseudo-Random Number Generator Algorithm Specification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909560" y="5038344"/>
            <a:ext cx="3685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[8] Bloom's Revised Taxonomy for Military Simulation &amp; Decision-Making Drills (2022)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909560" y="5440680"/>
            <a:ext cx="3685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F172A"/>
                </a:solidFill>
              </a:rPr>
              <a:t>[9] Sweller, J., Cognitive Load Theory in Tactical Simulation and Emergency Decision Systems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Ministry of Defence / C-UAS Simulator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Drone &amp; Counter-Drone Threat Simulation Trainer (PS 26247)</dc:title>
  <dc:subject>PptxGenJS Presentation</dc:subject>
  <dc:creator>Smart India Hackathon Team</dc:creator>
  <cp:lastModifiedBy>Smart India Hackathon Team</cp:lastModifiedBy>
  <cp:revision>1</cp:revision>
  <dcterms:created xsi:type="dcterms:W3CDTF">2026-10-03T05:49:10Z</dcterms:created>
  <dcterms:modified xsi:type="dcterms:W3CDTF">2026-10-03T05:49:10Z</dcterms:modified>
</cp:coreProperties>
</file>